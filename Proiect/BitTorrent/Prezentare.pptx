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622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3790" y="208776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Sistem Distribuit de Transfer P2P pentru Rețele Locale</a:t>
            </a:r>
            <a:endParaRPr lang="en-US" sz="4450" b="1" dirty="0"/>
          </a:p>
        </p:txBody>
      </p:sp>
      <p:sp>
        <p:nvSpPr>
          <p:cNvPr id="5" name="Text 2"/>
          <p:cNvSpPr/>
          <p:nvPr/>
        </p:nvSpPr>
        <p:spPr>
          <a:xfrm>
            <a:off x="793790" y="4304824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Performanță Scalabilă fără Server Centralizat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57789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Titea Dan Ruben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4C3630-868D-DEF7-724D-101AD2A87BA1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45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Provocările Actuale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1944053"/>
            <a:ext cx="5110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Abordarea clasică vs. Nevoile actuale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63854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224" y="28729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060025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3780234"/>
            <a:ext cx="32313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Limitarea Client-Server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27065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Când 50 de stații descarcă simultan un kit de 2GB de pe un singur server (SMB/FTP), rețeaua se blochează (Bottleneck).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63854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51396" y="28729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060025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3780234"/>
            <a:ext cx="31361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Dependența Hardware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427065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Necesită servere performante și configurări complexe de rețea.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2638544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874568" y="287297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060025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3780234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Single Point of Failure (SPOF)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4624983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Dacă serverul cade, nimeni nu primește datele.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1133951" y="646699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Impact: Pierdere de timp operațional și costuri de mentenanță IT.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793790" y="6211848"/>
            <a:ext cx="30480" cy="873204"/>
          </a:xfrm>
          <a:prstGeom prst="rect">
            <a:avLst/>
          </a:prstGeom>
          <a:solidFill>
            <a:srgbClr val="9C92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372BAB-01F1-3F09-BB95-92E5FC011500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79003" y="1364650"/>
            <a:ext cx="6056114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Soluția Tehnică Propusă</a:t>
            </a:r>
            <a:endParaRPr lang="en-US" sz="4050" b="1" dirty="0"/>
          </a:p>
        </p:txBody>
      </p:sp>
      <p:sp>
        <p:nvSpPr>
          <p:cNvPr id="5" name="Text 2"/>
          <p:cNvSpPr/>
          <p:nvPr/>
        </p:nvSpPr>
        <p:spPr>
          <a:xfrm>
            <a:off x="679003" y="2094503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Ce am construit?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79003" y="2728511"/>
            <a:ext cx="13097708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 aplicație Java Multi-threaded care implementează o versiune customizată a protocolului BitTorrent, optimizată pentru LAN.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79003" y="3292629"/>
            <a:ext cx="4227790" cy="2232422"/>
          </a:xfrm>
          <a:prstGeom prst="roundRect">
            <a:avLst>
              <a:gd name="adj" fmla="val 4915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6143" y="3292629"/>
            <a:ext cx="91440" cy="2232422"/>
          </a:xfrm>
          <a:prstGeom prst="roundRect">
            <a:avLst>
              <a:gd name="adj" fmla="val 95115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77493" y="3522539"/>
            <a:ext cx="3699391" cy="646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Arhitectură P2P (Peer-to-Peer)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77493" y="4293707"/>
            <a:ext cx="3699391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Fiecare nod este simultan client și server.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13843" y="3292629"/>
            <a:ext cx="4227909" cy="2232422"/>
          </a:xfrm>
          <a:prstGeom prst="roundRect">
            <a:avLst>
              <a:gd name="adj" fmla="val 4915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90983" y="3292629"/>
            <a:ext cx="91440" cy="2232422"/>
          </a:xfrm>
          <a:prstGeom prst="roundRect">
            <a:avLst>
              <a:gd name="adj" fmla="val 95115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12333" y="3522539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Scalabilitate Inversă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12333" y="3970214"/>
            <a:ext cx="3699510" cy="1324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 cât sunt mai mulți utilizatori conectați, cu atât viteza de transfer crește (lățimea de bandă este agregată).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48802" y="3292629"/>
            <a:ext cx="4227909" cy="2232422"/>
          </a:xfrm>
          <a:prstGeom prst="roundRect">
            <a:avLst>
              <a:gd name="adj" fmla="val 4915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905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525942" y="3292629"/>
            <a:ext cx="91440" cy="2232422"/>
          </a:xfrm>
          <a:prstGeom prst="roundRect">
            <a:avLst>
              <a:gd name="adj" fmla="val 95115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47292" y="3522539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Cross-Platform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847292" y="3970214"/>
            <a:ext cx="3699510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Rulează pe Windows, Linux, macOS (JVM based).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C48320-2C1B-8B8E-A8B1-88CFF9FE3A9F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9684"/>
            <a:ext cx="80794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Discovery prin Multicast UDP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2079188"/>
            <a:ext cx="73443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Cum am eliminat nevoia de configurare (Zero-Config)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736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Spre deosebire de BitTorrent-ul clasic care necesită un "Tracker" (server central), soluția noastră este autonomă: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91733"/>
            <a:ext cx="434756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525804"/>
            <a:ext cx="2995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Descoperire</a:t>
            </a: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2200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Dstribuit</a:t>
            </a:r>
            <a:r>
              <a:rPr lang="ro-RO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ă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5016222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Folosește un mecanism de descoperire a peer-ilor cu Multicast UDP.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391733"/>
            <a:ext cx="4347567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8171" y="45258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Protocol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368171" y="5016222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Interogările ("Cine are fișierul X?") sunt trimise către adresa de multicast 239.192.1.1.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391733"/>
            <a:ext cx="4347567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738" y="45258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Rezultat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715738" y="5016222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Nodurile se descoperă automat între ele.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93790" y="65868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Beneficii: Nu necesită setarea de IP-uri statice sau intervenția administratorului de rețea.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30986D-C3BA-05E1-4A5D-0D504309D2AB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21568" y="880348"/>
            <a:ext cx="7887891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Performanță: Transfer Paralel Fragmentat</a:t>
            </a:r>
            <a:endParaRPr lang="en-US" sz="3500" b="1" dirty="0"/>
          </a:p>
        </p:txBody>
      </p:sp>
      <p:sp>
        <p:nvSpPr>
          <p:cNvPr id="5" name="Text 2"/>
          <p:cNvSpPr/>
          <p:nvPr/>
        </p:nvSpPr>
        <p:spPr>
          <a:xfrm>
            <a:off x="1121568" y="2073593"/>
            <a:ext cx="238089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Mecanismul din spate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1121568" y="2623185"/>
            <a:ext cx="717828" cy="1076801"/>
          </a:xfrm>
          <a:prstGeom prst="roundRect">
            <a:avLst>
              <a:gd name="adj" fmla="val 36002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45881" y="2993350"/>
            <a:ext cx="269200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018823" y="2802612"/>
            <a:ext cx="256579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Segmentare (Chunking)</a:t>
            </a:r>
            <a:endParaRPr lang="en-US" sz="1750" b="1" dirty="0"/>
          </a:p>
        </p:txBody>
      </p:sp>
      <p:sp>
        <p:nvSpPr>
          <p:cNvPr id="9" name="Text 6"/>
          <p:cNvSpPr/>
          <p:nvPr/>
        </p:nvSpPr>
        <p:spPr>
          <a:xfrm>
            <a:off x="2018823" y="3190637"/>
            <a:ext cx="6990636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Fișierele sunt împărțite în piese de 256KB și blocuri de 16KB.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21568" y="3879413"/>
            <a:ext cx="717828" cy="1076801"/>
          </a:xfrm>
          <a:prstGeom prst="roundRect">
            <a:avLst>
              <a:gd name="adj" fmla="val 36002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45881" y="4249579"/>
            <a:ext cx="269200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2018823" y="4058841"/>
            <a:ext cx="224325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Non-Secvențial</a:t>
            </a:r>
            <a:endParaRPr lang="en-US" sz="1750" b="1" dirty="0"/>
          </a:p>
        </p:txBody>
      </p:sp>
      <p:sp>
        <p:nvSpPr>
          <p:cNvPr id="13" name="Text 10"/>
          <p:cNvSpPr/>
          <p:nvPr/>
        </p:nvSpPr>
        <p:spPr>
          <a:xfrm>
            <a:off x="2018823" y="4446865"/>
            <a:ext cx="6990636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Descărcarea pieselor se face în ordine aleatorie de la mai mulți peer-i simultan.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121568" y="5135642"/>
            <a:ext cx="717828" cy="1320998"/>
          </a:xfrm>
          <a:prstGeom prst="roundRect">
            <a:avLst>
              <a:gd name="adj" fmla="val 36002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651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345881" y="5627846"/>
            <a:ext cx="269200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018823" y="5315069"/>
            <a:ext cx="264140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Disponibilitate Imediată</a:t>
            </a:r>
            <a:endParaRPr lang="en-US" sz="1750" b="1" dirty="0"/>
          </a:p>
        </p:txBody>
      </p:sp>
      <p:sp>
        <p:nvSpPr>
          <p:cNvPr id="17" name="Text 14"/>
          <p:cNvSpPr/>
          <p:nvPr/>
        </p:nvSpPr>
        <p:spPr>
          <a:xfrm>
            <a:off x="2018823" y="5703094"/>
            <a:ext cx="6990636" cy="57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 nod poate începe să ofere (upload) o piesă imediat ce a descărcat-o, chiar dacă nu are fișierul complet.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90768" y="6860262"/>
            <a:ext cx="76186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Rezultat: Timpul de distribuție scade exponențial față de copierea clasică.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121568" y="6658451"/>
            <a:ext cx="22860" cy="690682"/>
          </a:xfrm>
          <a:prstGeom prst="rect">
            <a:avLst/>
          </a:prstGeom>
          <a:solidFill>
            <a:srgbClr val="9C92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78137B-30D9-F308-701F-EBCB95A1A905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812" y="613529"/>
            <a:ext cx="7539514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Fluxul de </a:t>
            </a:r>
            <a:r>
              <a:rPr lang="en-US" sz="4350" b="1" dirty="0" err="1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Lucru</a:t>
            </a:r>
            <a:r>
              <a:rPr lang="en-US" sz="43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</a:t>
            </a:r>
            <a:endParaRPr lang="en-US" sz="4350" b="1" dirty="0"/>
          </a:p>
        </p:txBody>
      </p:sp>
      <p:sp>
        <p:nvSpPr>
          <p:cNvPr id="3" name="Text 1"/>
          <p:cNvSpPr/>
          <p:nvPr/>
        </p:nvSpPr>
        <p:spPr>
          <a:xfrm>
            <a:off x="780812" y="1868329"/>
            <a:ext cx="5035629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Scenariul A: Publicare (Seeder)</a:t>
            </a:r>
            <a:endParaRPr lang="en-US" sz="2600" b="1" dirty="0"/>
          </a:p>
        </p:txBody>
      </p:sp>
      <p:sp>
        <p:nvSpPr>
          <p:cNvPr id="4" name="Text 2"/>
          <p:cNvSpPr/>
          <p:nvPr/>
        </p:nvSpPr>
        <p:spPr>
          <a:xfrm>
            <a:off x="780812" y="2509599"/>
            <a:ext cx="6262211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 selectează fișierul sursă.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0812" y="2944535"/>
            <a:ext cx="6262211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Aplicația generează fișierul .torrent.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0812" y="3379470"/>
            <a:ext cx="6262211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 intră în modul "Ascultare" pe Multicast.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4997" y="1868329"/>
            <a:ext cx="5474256" cy="41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Scenariul B: Descărcare (Leecher)</a:t>
            </a:r>
            <a:endParaRPr lang="en-US" sz="2600" b="1" dirty="0"/>
          </a:p>
        </p:txBody>
      </p:sp>
      <p:sp>
        <p:nvSpPr>
          <p:cNvPr id="9" name="Text 6"/>
          <p:cNvSpPr/>
          <p:nvPr/>
        </p:nvSpPr>
        <p:spPr>
          <a:xfrm>
            <a:off x="7594997" y="2509599"/>
            <a:ext cx="6262211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 încarcă fișierul .torrent.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4997" y="2944535"/>
            <a:ext cx="6262211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Discovery: Se trimite query UDP în rețea.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4997" y="3379470"/>
            <a:ext cx="6262211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Conectare: Se stabilesc conexiuni TCP cu peer-ii descoperiți.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4997" y="4171355"/>
            <a:ext cx="6262211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Download Paralel: Se cer piese diferite de la peer-i diferiți simultan.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F19C8C-88BB-3938-8C2A-260DBC088C1D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4182"/>
            <a:ext cx="108232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Integritate și Robustețe a Datelor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1873687"/>
            <a:ext cx="39851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 ce este sigur acest sistem?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43789" y="38907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Validare SHA-1</a:t>
            </a:r>
            <a:endParaRPr lang="en-US" sz="2200" b="1" dirty="0"/>
          </a:p>
        </p:txBody>
      </p:sp>
      <p:sp>
        <p:nvSpPr>
          <p:cNvPr id="5" name="Text 3"/>
          <p:cNvSpPr/>
          <p:nvPr/>
        </p:nvSpPr>
        <p:spPr>
          <a:xfrm>
            <a:off x="793790" y="4381143"/>
            <a:ext cx="3785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Fiecare piesă descărcată este verificată criptografic prin hash-uri SHA-1 (Info Hash). Datele corupte sunt respinse automat.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579251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1411" y="4417219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568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Bencode</a:t>
            </a:r>
            <a:endParaRPr lang="en-US" sz="2200" b="1" dirty="0"/>
          </a:p>
        </p:txBody>
      </p:sp>
      <p:sp>
        <p:nvSpPr>
          <p:cNvPr id="9" name="Text 5"/>
          <p:cNvSpPr/>
          <p:nvPr/>
        </p:nvSpPr>
        <p:spPr>
          <a:xfrm>
            <a:off x="9937790" y="3058597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Folosim codificarea standard BitTorrent pentru metadate, asigurând compatibilitate și precizie binară.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579251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0307" y="3466148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4850368"/>
            <a:ext cx="4100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o-RO" sz="2200" b="1" dirty="0">
                <a:solidFill>
                  <a:srgbClr val="4C4C4C"/>
                </a:solidFill>
                <a:ea typeface="Noto Serif Medium" pitchFamily="34" charset="-122"/>
              </a:rPr>
              <a:t>Posibilitatea de reluare a descărcării</a:t>
            </a:r>
            <a:endParaRPr lang="en-US" sz="2200" b="1" dirty="0"/>
          </a:p>
        </p:txBody>
      </p:sp>
      <p:sp>
        <p:nvSpPr>
          <p:cNvPr id="13" name="Text 7"/>
          <p:cNvSpPr/>
          <p:nvPr/>
        </p:nvSpPr>
        <p:spPr>
          <a:xfrm>
            <a:off x="9937790" y="5340787"/>
            <a:ext cx="38988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Starea descărcării este salvată persistent (BitField). Dacă un laptop se deconectează, transferul se reia automat la reconectare, fără pierderi de date.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579251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4533" y="6192322"/>
            <a:ext cx="339328" cy="3393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43F372-2D39-B23B-35D7-6397ADDA3235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032781" y="9785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Scenarii de Utilizare</a:t>
            </a:r>
            <a:endParaRPr lang="en-US" sz="4450" b="1" dirty="0"/>
          </a:p>
        </p:txBody>
      </p:sp>
      <p:sp>
        <p:nvSpPr>
          <p:cNvPr id="5" name="Text 2"/>
          <p:cNvSpPr/>
          <p:nvPr/>
        </p:nvSpPr>
        <p:spPr>
          <a:xfrm>
            <a:off x="1032781" y="1778080"/>
            <a:ext cx="3729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Cui se adresează produsul?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781" y="247257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83244" y="26072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Mediul Corporate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883244" y="3097649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Distribuirea rapidă a actualizărilor software, a bazelor de date mari sau a rapoartelor lunare către toți angajații.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781" y="427708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83244" y="4411742"/>
            <a:ext cx="3281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Instituții de Învățământ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883244" y="4902161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Profesorii trimit materiale didactice complexe către 30+ stații de lucru simultan în laborator.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2781" y="6081594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83244" y="6216253"/>
            <a:ext cx="32120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Industria Media/Design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883244" y="6706672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Transferul fișierelor video brute (zeci de GB) între editori și randare, fără a bloca internetul companiei.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8BF4B7-EA0D-69C8-3CFD-EC9C8A1FCB99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54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Direcții Viitoare</a:t>
            </a:r>
            <a:endParaRPr lang="en-US" sz="4450" b="1" dirty="0"/>
          </a:p>
        </p:txBody>
      </p:sp>
      <p:sp>
        <p:nvSpPr>
          <p:cNvPr id="4" name="Shape 2"/>
          <p:cNvSpPr/>
          <p:nvPr/>
        </p:nvSpPr>
        <p:spPr>
          <a:xfrm>
            <a:off x="1133951" y="4416743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3790" y="4189869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930" y="4360009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5097185"/>
            <a:ext cx="31001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Interfață Grafică (GUI)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58760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Pentru utilizatorii non-tehnici.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57123" y="4076462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216962" y="3849588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7102" y="4019729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756904"/>
            <a:ext cx="33401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Criptarea Traficului TCP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524732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Securitate sporită.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980295" y="3736300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40133" y="3509427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0274" y="3679567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41674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Implementarea "Choking algorithm"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526149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Pentru optimizarea lățimii de bandă (fairness).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EB2081-191F-1BB8-C2CD-604AFAF5CC43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3790" y="16037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Concluzii</a:t>
            </a:r>
            <a:endParaRPr lang="en-US" sz="4450" b="1" dirty="0"/>
          </a:p>
        </p:txBody>
      </p:sp>
      <p:sp>
        <p:nvSpPr>
          <p:cNvPr id="5" name="Text 2"/>
          <p:cNvSpPr/>
          <p:nvPr/>
        </p:nvSpPr>
        <p:spPr>
          <a:xfrm>
            <a:off x="793790" y="265271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Sistemul oferă o alternativă robustă, gratuită și rapidă la serverele de fișiere, valorificând puterea rețelei existente.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633668"/>
            <a:ext cx="7556421" cy="2992041"/>
          </a:xfrm>
          <a:prstGeom prst="roundRect">
            <a:avLst>
              <a:gd name="adj" fmla="val 3184"/>
            </a:avLst>
          </a:prstGeom>
          <a:solidFill>
            <a:srgbClr val="F2EDE5"/>
          </a:solidFill>
          <a:ln w="7620">
            <a:solidFill>
              <a:srgbClr val="CCC4B8"/>
            </a:solidFill>
            <a:prstDash val="solid"/>
          </a:ln>
          <a:effectLst>
            <a:outerShdw dist="2032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1410" y="3641288"/>
            <a:ext cx="3770590" cy="1669852"/>
          </a:xfrm>
          <a:prstGeom prst="roundRect">
            <a:avLst>
              <a:gd name="adj" fmla="val 5705"/>
            </a:avLst>
          </a:prstGeom>
          <a:solidFill>
            <a:srgbClr val="F2E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28224" y="38681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Performanță</a:t>
            </a:r>
            <a:endParaRPr lang="en-US" sz="2200" b="1" dirty="0"/>
          </a:p>
        </p:txBody>
      </p:sp>
      <p:sp>
        <p:nvSpPr>
          <p:cNvPr id="9" name="Text 6"/>
          <p:cNvSpPr/>
          <p:nvPr/>
        </p:nvSpPr>
        <p:spPr>
          <a:xfrm>
            <a:off x="1028224" y="4358521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Viteze de transfer exponențial mai mari.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3641288"/>
            <a:ext cx="3770590" cy="1669852"/>
          </a:xfrm>
          <a:prstGeom prst="rect">
            <a:avLst/>
          </a:prstGeom>
          <a:solidFill>
            <a:srgbClr val="F2E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3641288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98814" y="38681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Fiabilitate</a:t>
            </a:r>
            <a:endParaRPr lang="en-US" sz="2200" b="1" dirty="0"/>
          </a:p>
        </p:txBody>
      </p:sp>
      <p:sp>
        <p:nvSpPr>
          <p:cNvPr id="13" name="Text 10"/>
          <p:cNvSpPr/>
          <p:nvPr/>
        </p:nvSpPr>
        <p:spPr>
          <a:xfrm>
            <a:off x="4798814" y="4358521"/>
            <a:ext cx="3316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Integritatea datelor asigurată prin validare criptografică.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5311140"/>
            <a:ext cx="7541181" cy="1306949"/>
          </a:xfrm>
          <a:prstGeom prst="rect">
            <a:avLst/>
          </a:prstGeom>
          <a:solidFill>
            <a:srgbClr val="F2ED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1410" y="5311140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28224" y="5537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Autonomie</a:t>
            </a:r>
            <a:endParaRPr lang="en-US" sz="2200" b="1" dirty="0"/>
          </a:p>
        </p:txBody>
      </p:sp>
      <p:sp>
        <p:nvSpPr>
          <p:cNvPr id="17" name="Text 14"/>
          <p:cNvSpPr/>
          <p:nvPr/>
        </p:nvSpPr>
        <p:spPr>
          <a:xfrm>
            <a:off x="1028224" y="602837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Nu necesită server centralizat sau configurare manuală.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26800D-C6AB-F294-F512-74F942B9330C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832B34B-E39E-53D7-D218-C821D4E74275}"/>
              </a:ext>
            </a:extLst>
          </p:cNvPr>
          <p:cNvSpPr/>
          <p:nvPr/>
        </p:nvSpPr>
        <p:spPr>
          <a:xfrm>
            <a:off x="5114367" y="3761103"/>
            <a:ext cx="6201333" cy="1787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o-RO" sz="54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Vă mulțumesc!</a:t>
            </a:r>
            <a:endParaRPr lang="en-US" sz="5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4BBB76-4A14-C1A9-2AD8-77010352B52E}"/>
              </a:ext>
            </a:extLst>
          </p:cNvPr>
          <p:cNvSpPr/>
          <p:nvPr/>
        </p:nvSpPr>
        <p:spPr>
          <a:xfrm>
            <a:off x="12863945" y="7658100"/>
            <a:ext cx="1672937" cy="48837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18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640</Words>
  <Application>Microsoft Office PowerPoint</Application>
  <PresentationFormat>Custom</PresentationFormat>
  <Paragraphs>95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Ruben</dc:creator>
  <cp:lastModifiedBy>Titea Ruben</cp:lastModifiedBy>
  <cp:revision>25</cp:revision>
  <dcterms:created xsi:type="dcterms:W3CDTF">2026-01-20T02:06:21Z</dcterms:created>
  <dcterms:modified xsi:type="dcterms:W3CDTF">2026-01-20T02:16:48Z</dcterms:modified>
</cp:coreProperties>
</file>